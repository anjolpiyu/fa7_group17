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ali Bold" charset="1" panose="00000800000000000000"/>
      <p:regular r:id="rId15"/>
    </p:embeddedFont>
    <p:embeddedFont>
      <p:font typeface="Milk Tea Font TH Bold" charset="1" panose="02000503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4000">
            <a:off x="7312531" y="-1429560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8" y="3804344"/>
                </a:moveTo>
                <a:lnTo>
                  <a:pt x="0" y="3804344"/>
                </a:lnTo>
                <a:lnTo>
                  <a:pt x="0" y="0"/>
                </a:lnTo>
                <a:lnTo>
                  <a:pt x="19021718" y="0"/>
                </a:lnTo>
                <a:lnTo>
                  <a:pt x="19021718" y="3804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6682438" y="8656687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4"/>
                </a:lnTo>
                <a:lnTo>
                  <a:pt x="0" y="3804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13932868" y="8420898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4" y="0"/>
                </a:lnTo>
                <a:lnTo>
                  <a:pt x="2056364" y="1242199"/>
                </a:lnTo>
                <a:lnTo>
                  <a:pt x="0" y="12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53421">
            <a:off x="1804881" y="853154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9" y="0"/>
                </a:lnTo>
                <a:lnTo>
                  <a:pt x="2047079" y="1236590"/>
                </a:lnTo>
                <a:lnTo>
                  <a:pt x="0" y="1236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87774">
            <a:off x="13375006" y="1177704"/>
            <a:ext cx="3727638" cy="3903286"/>
          </a:xfrm>
          <a:custGeom>
            <a:avLst/>
            <a:gdLst/>
            <a:ahLst/>
            <a:cxnLst/>
            <a:rect r="r" b="b" t="t" l="l"/>
            <a:pathLst>
              <a:path h="3903286" w="3727638">
                <a:moveTo>
                  <a:pt x="0" y="0"/>
                </a:moveTo>
                <a:lnTo>
                  <a:pt x="3727639" y="0"/>
                </a:lnTo>
                <a:lnTo>
                  <a:pt x="3727639" y="3903287"/>
                </a:lnTo>
                <a:lnTo>
                  <a:pt x="0" y="3903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54517" y="2766333"/>
            <a:ext cx="5654582" cy="5223420"/>
          </a:xfrm>
          <a:custGeom>
            <a:avLst/>
            <a:gdLst/>
            <a:ahLst/>
            <a:cxnLst/>
            <a:rect r="r" b="b" t="t" l="l"/>
            <a:pathLst>
              <a:path h="5223420" w="5654582">
                <a:moveTo>
                  <a:pt x="0" y="0"/>
                </a:moveTo>
                <a:lnTo>
                  <a:pt x="5654581" y="0"/>
                </a:lnTo>
                <a:lnTo>
                  <a:pt x="5654581" y="5223419"/>
                </a:lnTo>
                <a:lnTo>
                  <a:pt x="0" y="52234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23001">
            <a:off x="14645242" y="5909315"/>
            <a:ext cx="3171086" cy="1847158"/>
          </a:xfrm>
          <a:custGeom>
            <a:avLst/>
            <a:gdLst/>
            <a:ahLst/>
            <a:cxnLst/>
            <a:rect r="r" b="b" t="t" l="l"/>
            <a:pathLst>
              <a:path h="1847158" w="3171086">
                <a:moveTo>
                  <a:pt x="0" y="0"/>
                </a:moveTo>
                <a:lnTo>
                  <a:pt x="3171086" y="0"/>
                </a:lnTo>
                <a:lnTo>
                  <a:pt x="3171086" y="1847157"/>
                </a:lnTo>
                <a:lnTo>
                  <a:pt x="0" y="1847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15932" y="6430737"/>
            <a:ext cx="5832520" cy="826764"/>
            <a:chOff x="0" y="0"/>
            <a:chExt cx="1666475" cy="2362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66475" cy="236224"/>
            </a:xfrm>
            <a:custGeom>
              <a:avLst/>
              <a:gdLst/>
              <a:ahLst/>
              <a:cxnLst/>
              <a:rect r="r" b="b" t="t" l="l"/>
              <a:pathLst>
                <a:path h="236224" w="1666475">
                  <a:moveTo>
                    <a:pt x="118112" y="0"/>
                  </a:moveTo>
                  <a:lnTo>
                    <a:pt x="1548363" y="0"/>
                  </a:lnTo>
                  <a:cubicBezTo>
                    <a:pt x="1579689" y="0"/>
                    <a:pt x="1609731" y="12444"/>
                    <a:pt x="1631881" y="34594"/>
                  </a:cubicBezTo>
                  <a:cubicBezTo>
                    <a:pt x="1654032" y="56745"/>
                    <a:pt x="1666475" y="86787"/>
                    <a:pt x="1666475" y="118112"/>
                  </a:cubicBezTo>
                  <a:lnTo>
                    <a:pt x="1666475" y="118112"/>
                  </a:lnTo>
                  <a:cubicBezTo>
                    <a:pt x="1666475" y="183344"/>
                    <a:pt x="1613595" y="236224"/>
                    <a:pt x="1548363" y="236224"/>
                  </a:cubicBezTo>
                  <a:lnTo>
                    <a:pt x="118112" y="236224"/>
                  </a:lnTo>
                  <a:cubicBezTo>
                    <a:pt x="86787" y="236224"/>
                    <a:pt x="56745" y="223780"/>
                    <a:pt x="34594" y="201630"/>
                  </a:cubicBezTo>
                  <a:cubicBezTo>
                    <a:pt x="12444" y="179480"/>
                    <a:pt x="0" y="149437"/>
                    <a:pt x="0" y="118112"/>
                  </a:cubicBezTo>
                  <a:lnTo>
                    <a:pt x="0" y="118112"/>
                  </a:lnTo>
                  <a:cubicBezTo>
                    <a:pt x="0" y="86787"/>
                    <a:pt x="12444" y="56745"/>
                    <a:pt x="34594" y="34594"/>
                  </a:cubicBezTo>
                  <a:cubicBezTo>
                    <a:pt x="56745" y="12444"/>
                    <a:pt x="86787" y="0"/>
                    <a:pt x="118112" y="0"/>
                  </a:cubicBezTo>
                  <a:close/>
                </a:path>
              </a:pathLst>
            </a:custGeom>
            <a:solidFill>
              <a:srgbClr val="E1B2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666475" cy="283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-479615" y="3481659"/>
            <a:ext cx="9623615" cy="220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1"/>
              </a:lnSpc>
            </a:pPr>
            <a:r>
              <a:rPr lang="en-US" sz="6594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Midterm Sleep Patterns Among Nursing Students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36568" y="6585244"/>
            <a:ext cx="519124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4"/>
              </a:lnSpc>
            </a:pPr>
            <a:r>
              <a:rPr lang="en-US" sz="3287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Calalang, Ingaran, Peña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4000">
            <a:off x="10614442" y="-1150794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8" y="3804344"/>
                </a:moveTo>
                <a:lnTo>
                  <a:pt x="0" y="3804344"/>
                </a:lnTo>
                <a:lnTo>
                  <a:pt x="0" y="0"/>
                </a:lnTo>
                <a:lnTo>
                  <a:pt x="19021718" y="0"/>
                </a:lnTo>
                <a:lnTo>
                  <a:pt x="19021718" y="3804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9510859" y="9058775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3"/>
                </a:lnTo>
                <a:lnTo>
                  <a:pt x="0" y="380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10938103" y="8719285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4" y="0"/>
                </a:lnTo>
                <a:lnTo>
                  <a:pt x="2056364" y="1242199"/>
                </a:lnTo>
                <a:lnTo>
                  <a:pt x="0" y="12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53421">
            <a:off x="-66879" y="133082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9" y="0"/>
                </a:lnTo>
                <a:lnTo>
                  <a:pt x="2047079" y="1236591"/>
                </a:lnTo>
                <a:lnTo>
                  <a:pt x="0" y="1236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6835" y="2535023"/>
            <a:ext cx="9077254" cy="5383624"/>
            <a:chOff x="0" y="0"/>
            <a:chExt cx="2593565" cy="1538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3565" cy="1538216"/>
            </a:xfrm>
            <a:custGeom>
              <a:avLst/>
              <a:gdLst/>
              <a:ahLst/>
              <a:cxnLst/>
              <a:rect r="r" b="b" t="t" l="l"/>
              <a:pathLst>
                <a:path h="1538216" w="2593565">
                  <a:moveTo>
                    <a:pt x="85289" y="0"/>
                  </a:moveTo>
                  <a:lnTo>
                    <a:pt x="2508276" y="0"/>
                  </a:lnTo>
                  <a:cubicBezTo>
                    <a:pt x="2555380" y="0"/>
                    <a:pt x="2593565" y="38185"/>
                    <a:pt x="2593565" y="85289"/>
                  </a:cubicBezTo>
                  <a:lnTo>
                    <a:pt x="2593565" y="1452927"/>
                  </a:lnTo>
                  <a:cubicBezTo>
                    <a:pt x="2593565" y="1500031"/>
                    <a:pt x="2555380" y="1538216"/>
                    <a:pt x="2508276" y="1538216"/>
                  </a:cubicBezTo>
                  <a:lnTo>
                    <a:pt x="85289" y="1538216"/>
                  </a:lnTo>
                  <a:cubicBezTo>
                    <a:pt x="38185" y="1538216"/>
                    <a:pt x="0" y="1500031"/>
                    <a:pt x="0" y="1452927"/>
                  </a:cubicBezTo>
                  <a:lnTo>
                    <a:pt x="0" y="85289"/>
                  </a:lnTo>
                  <a:cubicBezTo>
                    <a:pt x="0" y="38185"/>
                    <a:pt x="38185" y="0"/>
                    <a:pt x="85289" y="0"/>
                  </a:cubicBezTo>
                  <a:close/>
                </a:path>
              </a:pathLst>
            </a:custGeom>
            <a:solidFill>
              <a:srgbClr val="E1B27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93565" cy="1585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56835" y="1633374"/>
            <a:ext cx="9077254" cy="60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6"/>
              </a:lnSpc>
            </a:pPr>
            <a:r>
              <a:rPr lang="en-US" sz="5077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Background and 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2039" y="3086100"/>
            <a:ext cx="7866844" cy="41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5092" indent="-292546" lvl="1">
              <a:lnSpc>
                <a:spcPts val="3252"/>
              </a:lnSpc>
              <a:buFont typeface="Arial"/>
              <a:buChar char="•"/>
            </a:pPr>
            <a:r>
              <a:rPr lang="en-US" b="true" sz="27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Nursing school midterms plac</a:t>
            </a:r>
            <a:r>
              <a:rPr lang="en-US" b="true" sz="27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e heavy academic and clinical demands on students, directly affecting sleep quality.</a:t>
            </a:r>
          </a:p>
          <a:p>
            <a:pPr algn="l" marL="585092" indent="-292546" lvl="1">
              <a:lnSpc>
                <a:spcPts val="3252"/>
              </a:lnSpc>
              <a:buFont typeface="Arial"/>
              <a:buChar char="•"/>
            </a:pPr>
            <a:r>
              <a:rPr lang="en-US" b="true" sz="27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Surveyed N = 58 nursing students during midterm week</a:t>
            </a:r>
          </a:p>
          <a:p>
            <a:pPr algn="l" marL="585092" indent="-292546" lvl="1">
              <a:lnSpc>
                <a:spcPts val="3252"/>
              </a:lnSpc>
              <a:buFont typeface="Arial"/>
              <a:buChar char="•"/>
            </a:pPr>
            <a:r>
              <a:rPr lang="en-US" b="true" sz="27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Core Question: Do nursing student sleep hours follow a normal distribution during midterms?</a:t>
            </a:r>
          </a:p>
          <a:p>
            <a:pPr algn="l" marL="585092" indent="-292546" lvl="1">
              <a:lnSpc>
                <a:spcPts val="3252"/>
              </a:lnSpc>
              <a:buFont typeface="Arial"/>
              <a:buChar char="•"/>
            </a:pPr>
            <a:r>
              <a:rPr lang="en-US" b="true" sz="27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Evaluate empirical rule compliance and recommend practical wellness interventions.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190952" y="2743719"/>
            <a:ext cx="4743791" cy="2763258"/>
          </a:xfrm>
          <a:custGeom>
            <a:avLst/>
            <a:gdLst/>
            <a:ahLst/>
            <a:cxnLst/>
            <a:rect r="r" b="b" t="t" l="l"/>
            <a:pathLst>
              <a:path h="2763258" w="4743791">
                <a:moveTo>
                  <a:pt x="0" y="0"/>
                </a:moveTo>
                <a:lnTo>
                  <a:pt x="4743790" y="0"/>
                </a:lnTo>
                <a:lnTo>
                  <a:pt x="4743790" y="2763258"/>
                </a:lnTo>
                <a:lnTo>
                  <a:pt x="0" y="27632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51063" y="5839901"/>
            <a:ext cx="4167358" cy="3912108"/>
          </a:xfrm>
          <a:custGeom>
            <a:avLst/>
            <a:gdLst/>
            <a:ahLst/>
            <a:cxnLst/>
            <a:rect r="r" b="b" t="t" l="l"/>
            <a:pathLst>
              <a:path h="3912108" w="4167358">
                <a:moveTo>
                  <a:pt x="0" y="0"/>
                </a:moveTo>
                <a:lnTo>
                  <a:pt x="4167358" y="0"/>
                </a:lnTo>
                <a:lnTo>
                  <a:pt x="4167358" y="3912108"/>
                </a:lnTo>
                <a:lnTo>
                  <a:pt x="0" y="39121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4000">
            <a:off x="12991159" y="1889138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8" y="3804343"/>
                </a:moveTo>
                <a:lnTo>
                  <a:pt x="0" y="3804343"/>
                </a:lnTo>
                <a:lnTo>
                  <a:pt x="0" y="0"/>
                </a:lnTo>
                <a:lnTo>
                  <a:pt x="19021718" y="0"/>
                </a:lnTo>
                <a:lnTo>
                  <a:pt x="19021718" y="3804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15241650" y="6780586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3"/>
                </a:lnTo>
                <a:lnTo>
                  <a:pt x="0" y="380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2351129" y="130278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3" y="0"/>
                </a:lnTo>
                <a:lnTo>
                  <a:pt x="2056363" y="1242199"/>
                </a:lnTo>
                <a:lnTo>
                  <a:pt x="0" y="12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72331">
            <a:off x="14539972" y="7228617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8" y="0"/>
                </a:lnTo>
                <a:lnTo>
                  <a:pt x="2047078" y="1236590"/>
                </a:lnTo>
                <a:lnTo>
                  <a:pt x="0" y="1236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21636" y="3013420"/>
            <a:ext cx="9077254" cy="5167351"/>
            <a:chOff x="0" y="0"/>
            <a:chExt cx="2593565" cy="14764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3565" cy="1476423"/>
            </a:xfrm>
            <a:custGeom>
              <a:avLst/>
              <a:gdLst/>
              <a:ahLst/>
              <a:cxnLst/>
              <a:rect r="r" b="b" t="t" l="l"/>
              <a:pathLst>
                <a:path h="1476423" w="2593565">
                  <a:moveTo>
                    <a:pt x="85289" y="0"/>
                  </a:moveTo>
                  <a:lnTo>
                    <a:pt x="2508276" y="0"/>
                  </a:lnTo>
                  <a:cubicBezTo>
                    <a:pt x="2555380" y="0"/>
                    <a:pt x="2593565" y="38185"/>
                    <a:pt x="2593565" y="85289"/>
                  </a:cubicBezTo>
                  <a:lnTo>
                    <a:pt x="2593565" y="1391133"/>
                  </a:lnTo>
                  <a:cubicBezTo>
                    <a:pt x="2593565" y="1438237"/>
                    <a:pt x="2555380" y="1476423"/>
                    <a:pt x="2508276" y="1476423"/>
                  </a:cubicBezTo>
                  <a:lnTo>
                    <a:pt x="85289" y="1476423"/>
                  </a:lnTo>
                  <a:cubicBezTo>
                    <a:pt x="38185" y="1476423"/>
                    <a:pt x="0" y="1438237"/>
                    <a:pt x="0" y="1391133"/>
                  </a:cubicBezTo>
                  <a:lnTo>
                    <a:pt x="0" y="85289"/>
                  </a:lnTo>
                  <a:cubicBezTo>
                    <a:pt x="0" y="38185"/>
                    <a:pt x="38185" y="0"/>
                    <a:pt x="85289" y="0"/>
                  </a:cubicBezTo>
                  <a:close/>
                </a:path>
              </a:pathLst>
            </a:custGeom>
            <a:solidFill>
              <a:srgbClr val="E1B27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93565" cy="152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268100" y="1793579"/>
            <a:ext cx="10638091" cy="659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9"/>
              </a:lnSpc>
            </a:pPr>
            <a:r>
              <a:rPr lang="en-US" sz="5569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Summary Statistics (N=58)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31262" y="5054171"/>
            <a:ext cx="343847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Mean: 5.155 or 5.16 hours</a:t>
            </a:r>
          </a:p>
          <a:p>
            <a:pPr algn="l">
              <a:lnSpc>
                <a:spcPts val="2892"/>
              </a:lnSpc>
            </a:pPr>
            <a:r>
              <a:rPr lang="en-US" sz="241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Median: 5.00 hours</a:t>
            </a:r>
          </a:p>
          <a:p>
            <a:pPr algn="l">
              <a:lnSpc>
                <a:spcPts val="2892"/>
              </a:lnSpc>
            </a:pPr>
            <a:r>
              <a:rPr lang="en-US" sz="241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Mode: 4.00 hours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236983" y="3013420"/>
            <a:ext cx="4919381" cy="3431268"/>
          </a:xfrm>
          <a:custGeom>
            <a:avLst/>
            <a:gdLst/>
            <a:ahLst/>
            <a:cxnLst/>
            <a:rect r="r" b="b" t="t" l="l"/>
            <a:pathLst>
              <a:path h="3431268" w="4919381">
                <a:moveTo>
                  <a:pt x="0" y="0"/>
                </a:moveTo>
                <a:lnTo>
                  <a:pt x="4919381" y="0"/>
                </a:lnTo>
                <a:lnTo>
                  <a:pt x="4919381" y="3431269"/>
                </a:lnTo>
                <a:lnTo>
                  <a:pt x="0" y="3431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7149" y="2807173"/>
            <a:ext cx="2862161" cy="2898391"/>
          </a:xfrm>
          <a:custGeom>
            <a:avLst/>
            <a:gdLst/>
            <a:ahLst/>
            <a:cxnLst/>
            <a:rect r="r" b="b" t="t" l="l"/>
            <a:pathLst>
              <a:path h="2898391" w="2862161">
                <a:moveTo>
                  <a:pt x="0" y="0"/>
                </a:moveTo>
                <a:lnTo>
                  <a:pt x="2862161" y="0"/>
                </a:lnTo>
                <a:lnTo>
                  <a:pt x="2862161" y="2898391"/>
                </a:lnTo>
                <a:lnTo>
                  <a:pt x="0" y="28983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8360263" y="3013420"/>
            <a:ext cx="0" cy="51673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8587145" y="4800689"/>
            <a:ext cx="4074926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Standard Deviation: 1.694 or 1.69 hours</a:t>
            </a:r>
          </a:p>
          <a:p>
            <a:pPr algn="l">
              <a:lnSpc>
                <a:spcPts val="2892"/>
              </a:lnSpc>
            </a:pPr>
            <a:r>
              <a:rPr lang="en-US" sz="241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Range: 2.00 to 9.00 hours</a:t>
            </a:r>
          </a:p>
          <a:p>
            <a:pPr algn="l">
              <a:lnSpc>
                <a:spcPts val="2892"/>
              </a:lnSpc>
            </a:pPr>
            <a:r>
              <a:rPr lang="en-US" sz="2410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Outliers: 0 (all values fall within 3σ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13378" y="3791309"/>
            <a:ext cx="44468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3409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Central Tendency: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01166" y="3791309"/>
            <a:ext cx="444688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1"/>
              </a:lnSpc>
            </a:pPr>
            <a:r>
              <a:rPr lang="en-US" sz="3409" b="true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Spread &amp; Boundaries: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4000">
            <a:off x="12991159" y="1889138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8" y="3804343"/>
                </a:moveTo>
                <a:lnTo>
                  <a:pt x="0" y="3804343"/>
                </a:lnTo>
                <a:lnTo>
                  <a:pt x="0" y="0"/>
                </a:lnTo>
                <a:lnTo>
                  <a:pt x="19021718" y="0"/>
                </a:lnTo>
                <a:lnTo>
                  <a:pt x="19021718" y="3804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15241650" y="6780586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3"/>
                </a:lnTo>
                <a:lnTo>
                  <a:pt x="0" y="380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367346" y="398915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3" y="0"/>
                </a:lnTo>
                <a:lnTo>
                  <a:pt x="2056363" y="1242200"/>
                </a:lnTo>
                <a:lnTo>
                  <a:pt x="0" y="124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72331">
            <a:off x="14539972" y="7228617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8" y="0"/>
                </a:lnTo>
                <a:lnTo>
                  <a:pt x="2047078" y="1236590"/>
                </a:lnTo>
                <a:lnTo>
                  <a:pt x="0" y="1236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36983" y="3013420"/>
            <a:ext cx="4919381" cy="3431268"/>
          </a:xfrm>
          <a:custGeom>
            <a:avLst/>
            <a:gdLst/>
            <a:ahLst/>
            <a:cxnLst/>
            <a:rect r="r" b="b" t="t" l="l"/>
            <a:pathLst>
              <a:path h="3431268" w="4919381">
                <a:moveTo>
                  <a:pt x="0" y="0"/>
                </a:moveTo>
                <a:lnTo>
                  <a:pt x="4919381" y="0"/>
                </a:lnTo>
                <a:lnTo>
                  <a:pt x="4919381" y="3431269"/>
                </a:lnTo>
                <a:lnTo>
                  <a:pt x="0" y="3431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7149" y="2807173"/>
            <a:ext cx="2862161" cy="2898391"/>
          </a:xfrm>
          <a:custGeom>
            <a:avLst/>
            <a:gdLst/>
            <a:ahLst/>
            <a:cxnLst/>
            <a:rect r="r" b="b" t="t" l="l"/>
            <a:pathLst>
              <a:path h="2898391" w="2862161">
                <a:moveTo>
                  <a:pt x="0" y="0"/>
                </a:moveTo>
                <a:lnTo>
                  <a:pt x="2862161" y="0"/>
                </a:lnTo>
                <a:lnTo>
                  <a:pt x="2862161" y="2898391"/>
                </a:lnTo>
                <a:lnTo>
                  <a:pt x="0" y="28983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03147" y="1964530"/>
            <a:ext cx="6930447" cy="6869919"/>
          </a:xfrm>
          <a:custGeom>
            <a:avLst/>
            <a:gdLst/>
            <a:ahLst/>
            <a:cxnLst/>
            <a:rect r="r" b="b" t="t" l="l"/>
            <a:pathLst>
              <a:path h="6869919" w="6930447">
                <a:moveTo>
                  <a:pt x="0" y="0"/>
                </a:moveTo>
                <a:lnTo>
                  <a:pt x="6930447" y="0"/>
                </a:lnTo>
                <a:lnTo>
                  <a:pt x="6930447" y="6869919"/>
                </a:lnTo>
                <a:lnTo>
                  <a:pt x="0" y="6869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1107" y="855157"/>
            <a:ext cx="11614527" cy="78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6626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Summary Statistics (N=58)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4000">
            <a:off x="12991159" y="1889138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8" y="3804343"/>
                </a:moveTo>
                <a:lnTo>
                  <a:pt x="0" y="3804343"/>
                </a:lnTo>
                <a:lnTo>
                  <a:pt x="0" y="0"/>
                </a:lnTo>
                <a:lnTo>
                  <a:pt x="19021718" y="0"/>
                </a:lnTo>
                <a:lnTo>
                  <a:pt x="19021718" y="38043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15241650" y="6780586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3"/>
                </a:lnTo>
                <a:lnTo>
                  <a:pt x="0" y="380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367346" y="398915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3" y="0"/>
                </a:lnTo>
                <a:lnTo>
                  <a:pt x="2056363" y="1242200"/>
                </a:lnTo>
                <a:lnTo>
                  <a:pt x="0" y="124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72331">
            <a:off x="14539972" y="7228617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8" y="0"/>
                </a:lnTo>
                <a:lnTo>
                  <a:pt x="2047078" y="1236590"/>
                </a:lnTo>
                <a:lnTo>
                  <a:pt x="0" y="1236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36983" y="3013420"/>
            <a:ext cx="4919381" cy="3431268"/>
          </a:xfrm>
          <a:custGeom>
            <a:avLst/>
            <a:gdLst/>
            <a:ahLst/>
            <a:cxnLst/>
            <a:rect r="r" b="b" t="t" l="l"/>
            <a:pathLst>
              <a:path h="3431268" w="4919381">
                <a:moveTo>
                  <a:pt x="0" y="0"/>
                </a:moveTo>
                <a:lnTo>
                  <a:pt x="4919381" y="0"/>
                </a:lnTo>
                <a:lnTo>
                  <a:pt x="4919381" y="3431269"/>
                </a:lnTo>
                <a:lnTo>
                  <a:pt x="0" y="3431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7149" y="2807173"/>
            <a:ext cx="2862161" cy="2898391"/>
          </a:xfrm>
          <a:custGeom>
            <a:avLst/>
            <a:gdLst/>
            <a:ahLst/>
            <a:cxnLst/>
            <a:rect r="r" b="b" t="t" l="l"/>
            <a:pathLst>
              <a:path h="2898391" w="2862161">
                <a:moveTo>
                  <a:pt x="0" y="0"/>
                </a:moveTo>
                <a:lnTo>
                  <a:pt x="2862161" y="0"/>
                </a:lnTo>
                <a:lnTo>
                  <a:pt x="2862161" y="2898391"/>
                </a:lnTo>
                <a:lnTo>
                  <a:pt x="0" y="28983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13003" y="2807173"/>
            <a:ext cx="14661995" cy="4782001"/>
          </a:xfrm>
          <a:custGeom>
            <a:avLst/>
            <a:gdLst/>
            <a:ahLst/>
            <a:cxnLst/>
            <a:rect r="r" b="b" t="t" l="l"/>
            <a:pathLst>
              <a:path h="4782001" w="14661995">
                <a:moveTo>
                  <a:pt x="0" y="0"/>
                </a:moveTo>
                <a:lnTo>
                  <a:pt x="14661994" y="0"/>
                </a:lnTo>
                <a:lnTo>
                  <a:pt x="14661994" y="4782001"/>
                </a:lnTo>
                <a:lnTo>
                  <a:pt x="0" y="4782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61107" y="855157"/>
            <a:ext cx="11614527" cy="78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sz="6626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Summary Statistics (N=58)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114217">
            <a:off x="236990" y="-3749045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9" y="3804344"/>
                </a:moveTo>
                <a:lnTo>
                  <a:pt x="0" y="3804344"/>
                </a:lnTo>
                <a:lnTo>
                  <a:pt x="0" y="0"/>
                </a:lnTo>
                <a:lnTo>
                  <a:pt x="19021719" y="0"/>
                </a:lnTo>
                <a:lnTo>
                  <a:pt x="19021719" y="3804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7639187" y="9478423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4"/>
                </a:lnTo>
                <a:lnTo>
                  <a:pt x="0" y="3804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16930438" y="3661175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3" y="0"/>
                </a:lnTo>
                <a:lnTo>
                  <a:pt x="2056363" y="1242199"/>
                </a:lnTo>
                <a:lnTo>
                  <a:pt x="0" y="12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53421">
            <a:off x="184454" y="7345130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9" y="0"/>
                </a:lnTo>
                <a:lnTo>
                  <a:pt x="2047079" y="1236591"/>
                </a:lnTo>
                <a:lnTo>
                  <a:pt x="0" y="1236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892452" y="2781548"/>
            <a:ext cx="9914162" cy="6272194"/>
            <a:chOff x="0" y="0"/>
            <a:chExt cx="2832688" cy="1792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32688" cy="1792100"/>
            </a:xfrm>
            <a:custGeom>
              <a:avLst/>
              <a:gdLst/>
              <a:ahLst/>
              <a:cxnLst/>
              <a:rect r="r" b="b" t="t" l="l"/>
              <a:pathLst>
                <a:path h="1792100" w="2832688">
                  <a:moveTo>
                    <a:pt x="78090" y="0"/>
                  </a:moveTo>
                  <a:lnTo>
                    <a:pt x="2754599" y="0"/>
                  </a:lnTo>
                  <a:cubicBezTo>
                    <a:pt x="2775309" y="0"/>
                    <a:pt x="2795171" y="8227"/>
                    <a:pt x="2809816" y="22872"/>
                  </a:cubicBezTo>
                  <a:cubicBezTo>
                    <a:pt x="2824461" y="37517"/>
                    <a:pt x="2832688" y="57379"/>
                    <a:pt x="2832688" y="78090"/>
                  </a:cubicBezTo>
                  <a:lnTo>
                    <a:pt x="2832688" y="1714010"/>
                  </a:lnTo>
                  <a:cubicBezTo>
                    <a:pt x="2832688" y="1734721"/>
                    <a:pt x="2824461" y="1754583"/>
                    <a:pt x="2809816" y="1769228"/>
                  </a:cubicBezTo>
                  <a:cubicBezTo>
                    <a:pt x="2795171" y="1783873"/>
                    <a:pt x="2775309" y="1792100"/>
                    <a:pt x="2754599" y="1792100"/>
                  </a:cubicBezTo>
                  <a:lnTo>
                    <a:pt x="78090" y="1792100"/>
                  </a:lnTo>
                  <a:cubicBezTo>
                    <a:pt x="57379" y="1792100"/>
                    <a:pt x="37517" y="1783873"/>
                    <a:pt x="22872" y="1769228"/>
                  </a:cubicBezTo>
                  <a:cubicBezTo>
                    <a:pt x="8227" y="1754583"/>
                    <a:pt x="0" y="1734721"/>
                    <a:pt x="0" y="1714010"/>
                  </a:cubicBezTo>
                  <a:lnTo>
                    <a:pt x="0" y="78090"/>
                  </a:lnTo>
                  <a:cubicBezTo>
                    <a:pt x="0" y="57379"/>
                    <a:pt x="8227" y="37517"/>
                    <a:pt x="22872" y="22872"/>
                  </a:cubicBezTo>
                  <a:cubicBezTo>
                    <a:pt x="37517" y="8227"/>
                    <a:pt x="57379" y="0"/>
                    <a:pt x="78090" y="0"/>
                  </a:cubicBezTo>
                  <a:close/>
                </a:path>
              </a:pathLst>
            </a:custGeom>
            <a:solidFill>
              <a:srgbClr val="E1B27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832688" cy="1839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644723">
            <a:off x="1572100" y="3031259"/>
            <a:ext cx="4098092" cy="4291196"/>
          </a:xfrm>
          <a:custGeom>
            <a:avLst/>
            <a:gdLst/>
            <a:ahLst/>
            <a:cxnLst/>
            <a:rect r="r" b="b" t="t" l="l"/>
            <a:pathLst>
              <a:path h="4291196" w="4098092">
                <a:moveTo>
                  <a:pt x="0" y="0"/>
                </a:moveTo>
                <a:lnTo>
                  <a:pt x="4098092" y="0"/>
                </a:lnTo>
                <a:lnTo>
                  <a:pt x="4098092" y="4291196"/>
                </a:lnTo>
                <a:lnTo>
                  <a:pt x="0" y="429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96930" y="1227829"/>
            <a:ext cx="8129664" cy="125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9"/>
              </a:lnSpc>
            </a:pPr>
            <a:r>
              <a:rPr lang="en-US" sz="5569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Empirical Rule vs. Actual Data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835526" y="3707089"/>
            <a:ext cx="9971194" cy="0"/>
          </a:xfrm>
          <a:prstGeom prst="line">
            <a:avLst/>
          </a:prstGeom>
          <a:ln cap="flat" w="38100">
            <a:solidFill>
              <a:srgbClr val="FFF9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892400" y="5471836"/>
            <a:ext cx="9914162" cy="27344"/>
          </a:xfrm>
          <a:prstGeom prst="line">
            <a:avLst/>
          </a:prstGeom>
          <a:ln cap="flat" w="38100">
            <a:solidFill>
              <a:srgbClr val="FFF9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6892891" y="7262404"/>
            <a:ext cx="9914162" cy="27344"/>
          </a:xfrm>
          <a:prstGeom prst="line">
            <a:avLst/>
          </a:prstGeom>
          <a:ln cap="flat" w="38100">
            <a:solidFill>
              <a:srgbClr val="FFF9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9121437" y="2781548"/>
            <a:ext cx="22563" cy="6272194"/>
          </a:xfrm>
          <a:prstGeom prst="line">
            <a:avLst/>
          </a:prstGeom>
          <a:ln cap="flat" w="38100">
            <a:solidFill>
              <a:srgbClr val="FFF9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1720149" y="2781617"/>
            <a:ext cx="22563" cy="6272194"/>
          </a:xfrm>
          <a:prstGeom prst="line">
            <a:avLst/>
          </a:prstGeom>
          <a:ln cap="flat" w="38100">
            <a:solidFill>
              <a:srgbClr val="FFF9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4318862" y="2781685"/>
            <a:ext cx="22563" cy="6272194"/>
          </a:xfrm>
          <a:prstGeom prst="line">
            <a:avLst/>
          </a:prstGeom>
          <a:ln cap="flat" w="38100">
            <a:solidFill>
              <a:srgbClr val="FFF9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6758143" y="3061363"/>
            <a:ext cx="2989706" cy="58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Empirical </a:t>
            </a:r>
          </a:p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Rule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73364" y="6223080"/>
            <a:ext cx="298970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μ ± 2σ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91120" y="7880298"/>
            <a:ext cx="1754193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μ ± 3σ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73364" y="4508712"/>
            <a:ext cx="298970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μ ± 1σ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62181" y="3199475"/>
            <a:ext cx="298970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Range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58454" y="4334717"/>
            <a:ext cx="2989706" cy="58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3.46 to 6.85</a:t>
            </a:r>
          </a:p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hours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62181" y="6165930"/>
            <a:ext cx="2989706" cy="58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1.77 to 8.54</a:t>
            </a:r>
          </a:p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hours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58454" y="7918398"/>
            <a:ext cx="2989706" cy="58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0.07 to 10.24</a:t>
            </a:r>
          </a:p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hours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90005" y="3199475"/>
            <a:ext cx="298970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Actual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89037" y="3199475"/>
            <a:ext cx="298970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Target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14228" y="4472830"/>
            <a:ext cx="221951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62.07%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14228" y="6232605"/>
            <a:ext cx="221951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98.28%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14228" y="7992380"/>
            <a:ext cx="221951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100%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79712" y="4472830"/>
            <a:ext cx="221951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68%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522400" y="6261180"/>
            <a:ext cx="221951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95%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74775" y="7992380"/>
            <a:ext cx="2219516" cy="31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25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99.7%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4000">
            <a:off x="10614442" y="-1150794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8" y="3804344"/>
                </a:moveTo>
                <a:lnTo>
                  <a:pt x="0" y="3804344"/>
                </a:lnTo>
                <a:lnTo>
                  <a:pt x="0" y="0"/>
                </a:lnTo>
                <a:lnTo>
                  <a:pt x="19021718" y="0"/>
                </a:lnTo>
                <a:lnTo>
                  <a:pt x="19021718" y="3804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9510859" y="9058775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3"/>
                </a:lnTo>
                <a:lnTo>
                  <a:pt x="0" y="380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10938103" y="8719285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4" y="0"/>
                </a:lnTo>
                <a:lnTo>
                  <a:pt x="2056364" y="1242199"/>
                </a:lnTo>
                <a:lnTo>
                  <a:pt x="0" y="12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53421">
            <a:off x="-66879" y="133082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9" y="0"/>
                </a:lnTo>
                <a:lnTo>
                  <a:pt x="2047079" y="1236591"/>
                </a:lnTo>
                <a:lnTo>
                  <a:pt x="0" y="1236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84761" y="3404757"/>
            <a:ext cx="4059799" cy="3750240"/>
          </a:xfrm>
          <a:custGeom>
            <a:avLst/>
            <a:gdLst/>
            <a:ahLst/>
            <a:cxnLst/>
            <a:rect r="r" b="b" t="t" l="l"/>
            <a:pathLst>
              <a:path h="3750240" w="4059799">
                <a:moveTo>
                  <a:pt x="0" y="0"/>
                </a:moveTo>
                <a:lnTo>
                  <a:pt x="4059799" y="0"/>
                </a:lnTo>
                <a:lnTo>
                  <a:pt x="4059799" y="3750240"/>
                </a:lnTo>
                <a:lnTo>
                  <a:pt x="0" y="37502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3200" y="2194584"/>
            <a:ext cx="10903085" cy="6644068"/>
          </a:xfrm>
          <a:custGeom>
            <a:avLst/>
            <a:gdLst/>
            <a:ahLst/>
            <a:cxnLst/>
            <a:rect r="r" b="b" t="t" l="l"/>
            <a:pathLst>
              <a:path h="6644068" w="10903085">
                <a:moveTo>
                  <a:pt x="0" y="0"/>
                </a:moveTo>
                <a:lnTo>
                  <a:pt x="10903085" y="0"/>
                </a:lnTo>
                <a:lnTo>
                  <a:pt x="10903085" y="6644067"/>
                </a:lnTo>
                <a:lnTo>
                  <a:pt x="0" y="66440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30843" y="1257300"/>
            <a:ext cx="10638091" cy="81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7"/>
              </a:lnSpc>
            </a:pPr>
            <a:r>
              <a:rPr lang="en-US" sz="6869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Data Visualization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0843" y="9445159"/>
            <a:ext cx="7429306" cy="67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969" b="true">
                <a:solidFill>
                  <a:srgbClr val="FFFFFF"/>
                </a:solidFill>
                <a:latin typeface="Mali Bold"/>
                <a:ea typeface="Mali Bold"/>
                <a:cs typeface="Mali Bold"/>
                <a:sym typeface="Mali Bold"/>
              </a:rPr>
              <a:t>Peak frequency occurs at 4 hours (16 students) and 5 hours (11 students).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274000">
            <a:off x="12991159" y="2303824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8" y="3804344"/>
                </a:moveTo>
                <a:lnTo>
                  <a:pt x="0" y="3804344"/>
                </a:lnTo>
                <a:lnTo>
                  <a:pt x="0" y="0"/>
                </a:lnTo>
                <a:lnTo>
                  <a:pt x="19021718" y="0"/>
                </a:lnTo>
                <a:lnTo>
                  <a:pt x="19021718" y="3804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15241650" y="6780586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3"/>
                </a:lnTo>
                <a:lnTo>
                  <a:pt x="0" y="3804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2351129" y="130278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3" y="0"/>
                </a:lnTo>
                <a:lnTo>
                  <a:pt x="2056363" y="1242199"/>
                </a:lnTo>
                <a:lnTo>
                  <a:pt x="0" y="12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472331">
            <a:off x="14539972" y="7228617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8" y="0"/>
                </a:lnTo>
                <a:lnTo>
                  <a:pt x="2047078" y="1236590"/>
                </a:lnTo>
                <a:lnTo>
                  <a:pt x="0" y="1236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159729" y="2483356"/>
            <a:ext cx="9077254" cy="6774944"/>
            <a:chOff x="0" y="0"/>
            <a:chExt cx="2593565" cy="19357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3565" cy="1935746"/>
            </a:xfrm>
            <a:custGeom>
              <a:avLst/>
              <a:gdLst/>
              <a:ahLst/>
              <a:cxnLst/>
              <a:rect r="r" b="b" t="t" l="l"/>
              <a:pathLst>
                <a:path h="1935746" w="2593565">
                  <a:moveTo>
                    <a:pt x="85289" y="0"/>
                  </a:moveTo>
                  <a:lnTo>
                    <a:pt x="2508276" y="0"/>
                  </a:lnTo>
                  <a:cubicBezTo>
                    <a:pt x="2555380" y="0"/>
                    <a:pt x="2593565" y="38185"/>
                    <a:pt x="2593565" y="85289"/>
                  </a:cubicBezTo>
                  <a:lnTo>
                    <a:pt x="2593565" y="1850457"/>
                  </a:lnTo>
                  <a:cubicBezTo>
                    <a:pt x="2593565" y="1897561"/>
                    <a:pt x="2555380" y="1935746"/>
                    <a:pt x="2508276" y="1935746"/>
                  </a:cubicBezTo>
                  <a:lnTo>
                    <a:pt x="85289" y="1935746"/>
                  </a:lnTo>
                  <a:cubicBezTo>
                    <a:pt x="38185" y="1935746"/>
                    <a:pt x="0" y="1897561"/>
                    <a:pt x="0" y="1850457"/>
                  </a:cubicBezTo>
                  <a:lnTo>
                    <a:pt x="0" y="85289"/>
                  </a:lnTo>
                  <a:cubicBezTo>
                    <a:pt x="0" y="38185"/>
                    <a:pt x="38185" y="0"/>
                    <a:pt x="85289" y="0"/>
                  </a:cubicBezTo>
                  <a:close/>
                </a:path>
              </a:pathLst>
            </a:custGeom>
            <a:solidFill>
              <a:srgbClr val="E1B27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93565" cy="19833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27359" y="1376055"/>
            <a:ext cx="13540973" cy="86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1"/>
              </a:lnSpc>
            </a:pPr>
            <a:r>
              <a:rPr lang="en-US" sz="7269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Findings and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64934" y="3251231"/>
            <a:ext cx="7866844" cy="52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71" indent="-314135" lvl="1">
              <a:lnSpc>
                <a:spcPts val="3492"/>
              </a:lnSpc>
              <a:buFont typeface="Arial"/>
              <a:buChar char="•"/>
            </a:pP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Symmetry: Near-identical Mean (5.16) and M</a:t>
            </a: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edian (5.00) confirm a balanced distribution.</a:t>
            </a:r>
          </a:p>
          <a:p>
            <a:pPr algn="l" marL="628271" indent="-314135" lvl="1">
              <a:lnSpc>
                <a:spcPts val="3492"/>
              </a:lnSpc>
              <a:buFont typeface="Arial"/>
              <a:buChar char="•"/>
            </a:pP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Severe Sleep Deficit: The average sleep duration (5.16 hours) is well below the recommended 7 - 9 hours for young adults.</a:t>
            </a:r>
          </a:p>
          <a:p>
            <a:pPr algn="l" marL="628271" indent="-314135" lvl="1">
              <a:lnSpc>
                <a:spcPts val="3492"/>
              </a:lnSpc>
              <a:buFont typeface="Arial"/>
              <a:buChar char="•"/>
            </a:pP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Systemic Issue: Over 84% of nursing students sleep between 4 and 7 hours, showing sleep loss is a widespread experience rather than isolated student behavior.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13776" y="3251231"/>
            <a:ext cx="3107859" cy="3927784"/>
          </a:xfrm>
          <a:custGeom>
            <a:avLst/>
            <a:gdLst/>
            <a:ahLst/>
            <a:cxnLst/>
            <a:rect r="r" b="b" t="t" l="l"/>
            <a:pathLst>
              <a:path h="3927784" w="3107859">
                <a:moveTo>
                  <a:pt x="0" y="0"/>
                </a:moveTo>
                <a:lnTo>
                  <a:pt x="3107860" y="0"/>
                </a:lnTo>
                <a:lnTo>
                  <a:pt x="3107860" y="3927785"/>
                </a:lnTo>
                <a:lnTo>
                  <a:pt x="0" y="3927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77282" y="3188550"/>
            <a:ext cx="3741215" cy="3927784"/>
          </a:xfrm>
          <a:custGeom>
            <a:avLst/>
            <a:gdLst/>
            <a:ahLst/>
            <a:cxnLst/>
            <a:rect r="r" b="b" t="t" l="l"/>
            <a:pathLst>
              <a:path h="3927784" w="3741215">
                <a:moveTo>
                  <a:pt x="0" y="0"/>
                </a:moveTo>
                <a:lnTo>
                  <a:pt x="3741215" y="0"/>
                </a:lnTo>
                <a:lnTo>
                  <a:pt x="3741215" y="3927784"/>
                </a:lnTo>
                <a:lnTo>
                  <a:pt x="0" y="39277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9783" y="-4800283"/>
            <a:ext cx="19887566" cy="19887566"/>
          </a:xfrm>
          <a:custGeom>
            <a:avLst/>
            <a:gdLst/>
            <a:ahLst/>
            <a:cxnLst/>
            <a:rect r="r" b="b" t="t" l="l"/>
            <a:pathLst>
              <a:path h="19887566" w="19887566">
                <a:moveTo>
                  <a:pt x="0" y="0"/>
                </a:moveTo>
                <a:lnTo>
                  <a:pt x="19887566" y="0"/>
                </a:lnTo>
                <a:lnTo>
                  <a:pt x="19887566" y="19887566"/>
                </a:lnTo>
                <a:lnTo>
                  <a:pt x="0" y="19887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1114217">
            <a:off x="236990" y="-3749045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19021719" y="3804344"/>
                </a:moveTo>
                <a:lnTo>
                  <a:pt x="0" y="3804344"/>
                </a:lnTo>
                <a:lnTo>
                  <a:pt x="0" y="0"/>
                </a:lnTo>
                <a:lnTo>
                  <a:pt x="19021719" y="0"/>
                </a:lnTo>
                <a:lnTo>
                  <a:pt x="19021719" y="38043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756">
            <a:off x="-7639187" y="9478423"/>
            <a:ext cx="19021718" cy="3804344"/>
          </a:xfrm>
          <a:custGeom>
            <a:avLst/>
            <a:gdLst/>
            <a:ahLst/>
            <a:cxnLst/>
            <a:rect r="r" b="b" t="t" l="l"/>
            <a:pathLst>
              <a:path h="3804344" w="19021718">
                <a:moveTo>
                  <a:pt x="0" y="0"/>
                </a:moveTo>
                <a:lnTo>
                  <a:pt x="19021718" y="0"/>
                </a:lnTo>
                <a:lnTo>
                  <a:pt x="19021718" y="3804344"/>
                </a:lnTo>
                <a:lnTo>
                  <a:pt x="0" y="3804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0140">
            <a:off x="16930438" y="3661175"/>
            <a:ext cx="2056363" cy="1242199"/>
          </a:xfrm>
          <a:custGeom>
            <a:avLst/>
            <a:gdLst/>
            <a:ahLst/>
            <a:cxnLst/>
            <a:rect r="r" b="b" t="t" l="l"/>
            <a:pathLst>
              <a:path h="1242199" w="2056363">
                <a:moveTo>
                  <a:pt x="0" y="0"/>
                </a:moveTo>
                <a:lnTo>
                  <a:pt x="2056363" y="0"/>
                </a:lnTo>
                <a:lnTo>
                  <a:pt x="2056363" y="1242199"/>
                </a:lnTo>
                <a:lnTo>
                  <a:pt x="0" y="12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53421">
            <a:off x="184454" y="7345130"/>
            <a:ext cx="2047079" cy="1236590"/>
          </a:xfrm>
          <a:custGeom>
            <a:avLst/>
            <a:gdLst/>
            <a:ahLst/>
            <a:cxnLst/>
            <a:rect r="r" b="b" t="t" l="l"/>
            <a:pathLst>
              <a:path h="1236590" w="2047079">
                <a:moveTo>
                  <a:pt x="0" y="0"/>
                </a:moveTo>
                <a:lnTo>
                  <a:pt x="2047079" y="0"/>
                </a:lnTo>
                <a:lnTo>
                  <a:pt x="2047079" y="1236591"/>
                </a:lnTo>
                <a:lnTo>
                  <a:pt x="0" y="1236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729413" y="2198334"/>
            <a:ext cx="9077254" cy="5982437"/>
            <a:chOff x="0" y="0"/>
            <a:chExt cx="2593565" cy="1709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3565" cy="1709310"/>
            </a:xfrm>
            <a:custGeom>
              <a:avLst/>
              <a:gdLst/>
              <a:ahLst/>
              <a:cxnLst/>
              <a:rect r="r" b="b" t="t" l="l"/>
              <a:pathLst>
                <a:path h="1709310" w="2593565">
                  <a:moveTo>
                    <a:pt x="85289" y="0"/>
                  </a:moveTo>
                  <a:lnTo>
                    <a:pt x="2508276" y="0"/>
                  </a:lnTo>
                  <a:cubicBezTo>
                    <a:pt x="2555380" y="0"/>
                    <a:pt x="2593565" y="38185"/>
                    <a:pt x="2593565" y="85289"/>
                  </a:cubicBezTo>
                  <a:lnTo>
                    <a:pt x="2593565" y="1624021"/>
                  </a:lnTo>
                  <a:cubicBezTo>
                    <a:pt x="2593565" y="1671125"/>
                    <a:pt x="2555380" y="1709310"/>
                    <a:pt x="2508276" y="1709310"/>
                  </a:cubicBezTo>
                  <a:lnTo>
                    <a:pt x="85289" y="1709310"/>
                  </a:lnTo>
                  <a:cubicBezTo>
                    <a:pt x="38185" y="1709310"/>
                    <a:pt x="0" y="1671125"/>
                    <a:pt x="0" y="1624021"/>
                  </a:cubicBezTo>
                  <a:lnTo>
                    <a:pt x="0" y="85289"/>
                  </a:lnTo>
                  <a:cubicBezTo>
                    <a:pt x="0" y="38185"/>
                    <a:pt x="38185" y="0"/>
                    <a:pt x="85289" y="0"/>
                  </a:cubicBezTo>
                  <a:close/>
                </a:path>
              </a:pathLst>
            </a:custGeom>
            <a:solidFill>
              <a:srgbClr val="E1B27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593565" cy="1756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729413" y="1247775"/>
            <a:ext cx="9077254" cy="79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5"/>
              </a:lnSpc>
            </a:pPr>
            <a:r>
              <a:rPr lang="en-US" sz="6669" b="true">
                <a:solidFill>
                  <a:srgbClr val="887BB0"/>
                </a:solidFill>
                <a:latin typeface="Mali Bold"/>
                <a:ea typeface="Mali Bold"/>
                <a:cs typeface="Mali Bold"/>
                <a:sym typeface="Mali Bold"/>
              </a:rPr>
              <a:t>Recommendations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289581" y="2985163"/>
            <a:ext cx="4661483" cy="4874753"/>
          </a:xfrm>
          <a:custGeom>
            <a:avLst/>
            <a:gdLst/>
            <a:ahLst/>
            <a:cxnLst/>
            <a:rect r="r" b="b" t="t" l="l"/>
            <a:pathLst>
              <a:path h="4874753" w="4661483">
                <a:moveTo>
                  <a:pt x="0" y="0"/>
                </a:moveTo>
                <a:lnTo>
                  <a:pt x="4661483" y="0"/>
                </a:lnTo>
                <a:lnTo>
                  <a:pt x="4661483" y="4874753"/>
                </a:lnTo>
                <a:lnTo>
                  <a:pt x="0" y="48747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34618" y="2779728"/>
            <a:ext cx="7866844" cy="481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271" indent="-314135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 For Nursing Faculty: Stagger clinical exams and avoid clust</a:t>
            </a: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ering major deadlines on consecutive days.</a:t>
            </a:r>
          </a:p>
          <a:p>
            <a:pPr algn="l" marL="628271" indent="-314135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 </a:t>
            </a: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For Campus Services &amp; Nursing Department: Offer targeted sleep hygiene workshops and open quiet recovery/nap spaces during midterm weeks.</a:t>
            </a:r>
          </a:p>
          <a:p>
            <a:pPr algn="l" marL="628271" indent="-314135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 </a:t>
            </a:r>
            <a:r>
              <a:rPr lang="en-US" b="true" sz="2910">
                <a:solidFill>
                  <a:srgbClr val="FFFFFF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For Nursing Students: Utilize active recall and structured study schedules to minimize all-night cramming.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DAHXZdLOqHs</dc:identifier>
  <dcterms:modified xsi:type="dcterms:W3CDTF">2011-08-01T06:04:30Z</dcterms:modified>
  <cp:revision>1</cp:revision>
  <dc:title>Midterm Sleep Patterns Among Nursing Students</dc:title>
</cp:coreProperties>
</file>